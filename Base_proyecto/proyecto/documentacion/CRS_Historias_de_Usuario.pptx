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640080" cy="5143500"/>
          </a:xfrm>
          <a:prstGeom prst="rtTriangle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48640"/>
            <a:ext cx="1463040" cy="1426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CIDM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" y="25786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Floridablanca, Santander · 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2926080"/>
            <a:ext cx="2743200" cy="36576"/>
          </a:xfrm>
          <a:prstGeom prst="rect">
            <a:avLst/>
          </a:prstGeom>
          <a:solidFill>
            <a:srgbClr val="1A2B45">
              <a:alpha val="60000"/>
            </a:srgbClr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3063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Ardila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Elver Cortez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3232672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49040" y="502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3749040" y="1280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USUARIO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749040" y="1810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C.R.S v2.0 — Chronos Registry System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749040" y="2286000"/>
            <a:ext cx="502920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4904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3749040" y="3127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Usuario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4068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5440680" y="3127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3232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132320" y="3127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749040" y="3749040"/>
            <a:ext cx="5029200" cy="11155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31920" y="385876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HU-001 → HU-015 · Aprendiz · Instructor · Administrador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(HU-001–006) · v2.0 (HU-007–015)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actualización: 10 de Marzo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— Aprendiz (Parte 1)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HU-001 · HU-002 · HU-003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58368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914400"/>
            <a:ext cx="288036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" y="1005840"/>
            <a:ext cx="65836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584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Asistencia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2608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aprendiz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mi asistencia quede registrada automáticamente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92608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documento en terminal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ENTRADA registra hora actual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SALIDA solo si hay entrada activa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confirmación y error claros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 aprendiz está en papelera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127248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27248" y="914400"/>
            <a:ext cx="288036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36976" y="1005840"/>
            <a:ext cx="658368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36976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950208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 de Asistencias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236976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aprendiz registrado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36976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verificar mis días de presencia, entradas y salidas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236976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64408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29000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mensual con días marcados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64408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29000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entrada/salida al seleccionar día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64408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29000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si no hay actividad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64408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29000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automática al cambiar mes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64408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29000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 formato HH:MM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062472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062472" y="914400"/>
            <a:ext cx="288036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72200" y="1005840"/>
            <a:ext cx="658368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72200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HU-003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85432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Contraseña Obligatorio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172200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aprendiz o instructor nuevo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172200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mi cuenta sea segura desde el primer acceso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172200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99632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64224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contraseña por defecto sena123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199632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64224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emergente obligatoria (no se puede cerrar)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199632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364224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tiempo real por rol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199632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64224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cambio_pass = 1 en BD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199632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364224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aprendices e instructores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— Login y Gestión de Aprendices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HU-004 · HU-005 · HU-006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58368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914400"/>
            <a:ext cx="288036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" y="1005840"/>
            <a:ext cx="65836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584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Unificado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2608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usuario del sistema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el sistema me dirija al panel según mi rol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92608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única para todos los roles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en usuarios_admin, instructores y estudiantes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automáticamente al panel correcto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 credenciales incorrectas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registrado en auditoría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127248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27248" y="914400"/>
            <a:ext cx="28803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36976" y="1005840"/>
            <a:ext cx="658368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36976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950208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Aprendiz Manualmente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236976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administrador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36976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el aprendiz acceda al sistema sin archivo Excel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236976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64408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29000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con documento, nombre, correo, ficha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64408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29000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documento único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64408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29000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formato de correo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64408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29000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por defecto sena123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64408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29000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registrada en auditoría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062472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062472" y="914400"/>
            <a:ext cx="288036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72200" y="1005840"/>
            <a:ext cx="658368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72200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HU-006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85432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desde Excel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172200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administrador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172200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no tener que ingresar manualmente cientos de registros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172200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99632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64224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archivo .xlsx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199632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64224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antes de importar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199632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364224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documentos duplicados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199632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64224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si hay error crítico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199632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364224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 con pandas y openpyxl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— Papelera e Instructor ⭐ v2.0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HU-007 · HU-008 · HU-009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58368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914400"/>
            <a:ext cx="28803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" y="1005840"/>
            <a:ext cx="65836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584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Papelera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2608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administrador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recuperar aprendices eliminados por error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92608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Multiselección → Mover a papelera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antes de mover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PAPELERA con aprendices desactivados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devuelve al sistema activo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Permanente borra definitivamente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127248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27248" y="914400"/>
            <a:ext cx="288036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36976" y="1005840"/>
            <a:ext cx="65836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36976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HU-008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950208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Registra Faltas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236976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instructor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36976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quede documentado el comportamiento de asistencia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236976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64408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29000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 sus fichas asignadas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64408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29000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tipos: Inasistencia, Retardo, Justificada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64408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29000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opcional de observaciones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64408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29000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en tabla faltas con fecha y tipo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64408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29000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registrada en auditoría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062472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062472" y="914400"/>
            <a:ext cx="288036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72200" y="1005840"/>
            <a:ext cx="658368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72200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HU-009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85432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Consulta Historial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172200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instructor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172200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hacer seguimiento sin depender del administrador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172200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99632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64224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 sus fichas asignadas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199632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64224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registros entrada/salida por ficha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199632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364224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fecha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199632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64224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aprendices asignados a cada ficha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— Admin: Instructores y Reportes ⭐ v2.0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HU-010 · HU-011 · HU-012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58368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914400"/>
            <a:ext cx="28803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" y="1005840"/>
            <a:ext cx="658368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584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Gestiona Instructores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2608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administrador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cada instructor tenga acceso solo a sus grupos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92608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Formulario: documento, nombre, correo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por defecto sena123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una o más fichas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solo ve sus fichas asignadas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tabla instructores y fichas_asignadas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127248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27248" y="914400"/>
            <a:ext cx="288036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36976" y="1005840"/>
            <a:ext cx="65836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36976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950208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Asistencia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236976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administrador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36976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analizar patrones y tomar decisiones informadas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236976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64408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29000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Ficha o Aprendiz individual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64408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29000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Día / Semana / Mes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64408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29000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con métricas A, F, R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64408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29000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Colores: verde &gt;80%, naranja 30-80%, rojo &lt;30%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64408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29000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PDF y Excel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062472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062472" y="914400"/>
            <a:ext cx="288036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72200" y="1005840"/>
            <a:ext cx="658368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72200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HU-012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85432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KPIs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172200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administrador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172200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tener una visión rápida del estado de asistencia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172200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99632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64224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con columnas HOY / SEMANA / MES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199632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64224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Asistencias, Faltas, Retardos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199632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364224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fecha con calendario interactivo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199632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64224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adaptativos por nivel de asistencia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199632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364224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laboral lunes–viernes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— Exportación y Auditoría ⭐ v2.0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HU-013 · HU-014 · HU-015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58368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914400"/>
            <a:ext cx="288036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" y="1005840"/>
            <a:ext cx="658368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584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Reporte PDF / Excel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2608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administrador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poder enviar o imprimir el reporte generado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92608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DESCARGAR tras generar reporte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formato: .pdf o .xlsx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 reportlab: título, período, métricas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con pandas: columnas estándar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nativo para elegir ubicación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127248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27248" y="914400"/>
            <a:ext cx="28803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36976" y="1005840"/>
            <a:ext cx="65836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36976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950208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Auditoría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236976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administrador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36976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auditar cambios y detectar anomalías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236976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64408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29000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usuario, acción, objeto, fecha, detalles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64408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29000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login, logout, creación, modificación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64408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29000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usuario y rango de fechas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64408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29000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100+ acciones visibles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64408" y="3282696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29000" y="3200400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 desde cualquier módulo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062472" y="914400"/>
            <a:ext cx="2880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062472" y="914400"/>
            <a:ext cx="28803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72200" y="1005840"/>
            <a:ext cx="658368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72200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HU-015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85432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 con Auditoría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172200" y="133502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Como usuario autenticado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172200" y="151790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quede trazabilidad completa de accesos y salidas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172200" y="1755648"/>
            <a:ext cx="2660904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99632" y="1892808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64224" y="181051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CERRAR SESIÓN en header de cada panel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199632" y="2240280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64224" y="215798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logout aprendiz / instructor en auditoría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199632" y="2587752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364224" y="2505456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 variables de sesión activa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199632" y="2935224"/>
            <a:ext cx="118872" cy="1188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64224" y="2852928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auditoría falla: warning en log, no bloquea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Trazabilidad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vs Historias de Usuario implementadas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58368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960120"/>
            <a:ext cx="1417320" cy="475488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9601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00200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00200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090928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90928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581656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81656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072384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2384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563112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63112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053840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53840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544568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44568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035296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5296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526024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26024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016752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16752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507480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07480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998208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98208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488936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88936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979664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79664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8470392" y="960120"/>
            <a:ext cx="490728" cy="475488"/>
          </a:xfrm>
          <a:prstGeom prst="rect">
            <a:avLst/>
          </a:prstGeom>
          <a:solidFill>
            <a:srgbClr val="1A2B45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70392" y="96012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182880" y="1435608"/>
            <a:ext cx="1417320" cy="475488"/>
          </a:xfrm>
          <a:prstGeom prst="rect">
            <a:avLst/>
          </a:prstGeom>
          <a:solidFill>
            <a:srgbClr val="1A2B45">
              <a:alpha val="15000"/>
            </a:srgbClr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28600" y="143560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1600200" y="143560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600200" y="143560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090928" y="1435608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581656" y="143560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581656" y="143560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072384" y="143560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072384" y="143560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563112" y="1435608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053840" y="1435608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544568" y="1435608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035296" y="1435608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526024" y="1435608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016752" y="1435608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507480" y="1435608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998208" y="1435608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488936" y="143560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488936" y="143560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7979664" y="1435608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470392" y="143560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470392" y="143560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182880" y="1911096"/>
            <a:ext cx="1417320" cy="475488"/>
          </a:xfrm>
          <a:prstGeom prst="rect">
            <a:avLst/>
          </a:prstGeom>
          <a:solidFill>
            <a:srgbClr val="1A2B45">
              <a:alpha val="20000"/>
            </a:srgbClr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28600" y="191109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logica.py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1600200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600200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2090928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090928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2581656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581656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3072384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072384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3563112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563112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4053840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053840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544568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544568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5035296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035296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5526024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526024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6016752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016752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6507480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507480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6998208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998208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7488936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7488936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7979664" y="191109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7979664" y="191109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8470392" y="1911096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82880" y="2386584"/>
            <a:ext cx="1417320" cy="475488"/>
          </a:xfrm>
          <a:prstGeom prst="rect">
            <a:avLst/>
          </a:prstGeom>
          <a:solidFill>
            <a:srgbClr val="1A2B45">
              <a:alpha val="15000"/>
            </a:srgbClr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228600" y="23865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admin_panel.py</a:t>
            </a:r>
            <a:endParaRPr lang="en-US" sz="800" dirty="0"/>
          </a:p>
        </p:txBody>
      </p:sp>
      <p:sp>
        <p:nvSpPr>
          <p:cNvPr id="94" name="Shape 91"/>
          <p:cNvSpPr/>
          <p:nvPr/>
        </p:nvSpPr>
        <p:spPr>
          <a:xfrm>
            <a:off x="1600200" y="2386584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2090928" y="2386584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2581656" y="2386584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072384" y="2386584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563112" y="2386584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563112" y="2386584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4053840" y="2386584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4053840" y="2386584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4544568" y="2386584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4544568" y="2386584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5035296" y="2386584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5035296" y="2386584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5526024" y="2386584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526024" y="2386584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6016752" y="2386584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6016752" y="2386584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6507480" y="2386584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6998208" y="2386584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7488936" y="2386584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979664" y="2386584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979664" y="2386584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5" name="Shape 112"/>
          <p:cNvSpPr/>
          <p:nvPr/>
        </p:nvSpPr>
        <p:spPr>
          <a:xfrm>
            <a:off x="8470392" y="2386584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82880" y="2862072"/>
            <a:ext cx="1417320" cy="475488"/>
          </a:xfrm>
          <a:prstGeom prst="rect">
            <a:avLst/>
          </a:prstGeom>
          <a:solidFill>
            <a:srgbClr val="1A2B45">
              <a:alpha val="20000"/>
            </a:srgbClr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228600" y="28620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dashboard_password.py</a:t>
            </a:r>
            <a:endParaRPr lang="en-US" sz="800" dirty="0"/>
          </a:p>
        </p:txBody>
      </p:sp>
      <p:sp>
        <p:nvSpPr>
          <p:cNvPr id="118" name="Shape 115"/>
          <p:cNvSpPr/>
          <p:nvPr/>
        </p:nvSpPr>
        <p:spPr>
          <a:xfrm>
            <a:off x="1600200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2090928" y="2862072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2090928" y="2862072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1" name="Shape 118"/>
          <p:cNvSpPr/>
          <p:nvPr/>
        </p:nvSpPr>
        <p:spPr>
          <a:xfrm>
            <a:off x="2581656" y="2862072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2581656" y="2862072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3072384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3563112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053840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544568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5035296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5526024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016752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6507480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6998208" y="2862072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6998208" y="2862072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3" name="Shape 130"/>
          <p:cNvSpPr/>
          <p:nvPr/>
        </p:nvSpPr>
        <p:spPr>
          <a:xfrm>
            <a:off x="7488936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7979664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8470392" y="2862072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182880" y="3337560"/>
            <a:ext cx="1417320" cy="475488"/>
          </a:xfrm>
          <a:prstGeom prst="rect">
            <a:avLst/>
          </a:prstGeom>
          <a:solidFill>
            <a:srgbClr val="1A2B45">
              <a:alpha val="15000"/>
            </a:srgbClr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228600" y="33375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reportes.py</a:t>
            </a:r>
            <a:endParaRPr lang="en-US" sz="800" dirty="0"/>
          </a:p>
        </p:txBody>
      </p:sp>
      <p:sp>
        <p:nvSpPr>
          <p:cNvPr id="138" name="Shape 135"/>
          <p:cNvSpPr/>
          <p:nvPr/>
        </p:nvSpPr>
        <p:spPr>
          <a:xfrm>
            <a:off x="1600200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2090928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2581656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3072384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3563112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4053840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4544568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035296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526024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016752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6507480" y="3337560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6507480" y="333756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0" name="Shape 147"/>
          <p:cNvSpPr/>
          <p:nvPr/>
        </p:nvSpPr>
        <p:spPr>
          <a:xfrm>
            <a:off x="6998208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7488936" y="3337560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2" name="Text 149"/>
          <p:cNvSpPr/>
          <p:nvPr/>
        </p:nvSpPr>
        <p:spPr>
          <a:xfrm>
            <a:off x="7488936" y="3337560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3" name="Shape 150"/>
          <p:cNvSpPr/>
          <p:nvPr/>
        </p:nvSpPr>
        <p:spPr>
          <a:xfrm>
            <a:off x="7979664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8470392" y="3337560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82880" y="3813048"/>
            <a:ext cx="1417320" cy="475488"/>
          </a:xfrm>
          <a:prstGeom prst="rect">
            <a:avLst/>
          </a:prstGeom>
          <a:solidFill>
            <a:srgbClr val="1A2B45">
              <a:alpha val="20000"/>
            </a:srgbClr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228600" y="381304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conexion.py</a:t>
            </a:r>
            <a:endParaRPr lang="en-US" sz="800" dirty="0"/>
          </a:p>
        </p:txBody>
      </p:sp>
      <p:sp>
        <p:nvSpPr>
          <p:cNvPr id="157" name="Shape 154"/>
          <p:cNvSpPr/>
          <p:nvPr/>
        </p:nvSpPr>
        <p:spPr>
          <a:xfrm>
            <a:off x="1600200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1600200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9" name="Shape 156"/>
          <p:cNvSpPr/>
          <p:nvPr/>
        </p:nvSpPr>
        <p:spPr>
          <a:xfrm>
            <a:off x="2090928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2090928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1" name="Shape 158"/>
          <p:cNvSpPr/>
          <p:nvPr/>
        </p:nvSpPr>
        <p:spPr>
          <a:xfrm>
            <a:off x="2581656" y="3813048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3072384" y="3813048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563112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563112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5" name="Shape 162"/>
          <p:cNvSpPr/>
          <p:nvPr/>
        </p:nvSpPr>
        <p:spPr>
          <a:xfrm>
            <a:off x="4053840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4053840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7" name="Shape 164"/>
          <p:cNvSpPr/>
          <p:nvPr/>
        </p:nvSpPr>
        <p:spPr>
          <a:xfrm>
            <a:off x="4544568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4544568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9" name="Shape 166"/>
          <p:cNvSpPr/>
          <p:nvPr/>
        </p:nvSpPr>
        <p:spPr>
          <a:xfrm>
            <a:off x="5035296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70" name="Text 167"/>
          <p:cNvSpPr/>
          <p:nvPr/>
        </p:nvSpPr>
        <p:spPr>
          <a:xfrm>
            <a:off x="5035296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1" name="Shape 168"/>
          <p:cNvSpPr/>
          <p:nvPr/>
        </p:nvSpPr>
        <p:spPr>
          <a:xfrm>
            <a:off x="5526024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5526024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3" name="Shape 170"/>
          <p:cNvSpPr/>
          <p:nvPr/>
        </p:nvSpPr>
        <p:spPr>
          <a:xfrm>
            <a:off x="6016752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6016752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5" name="Shape 172"/>
          <p:cNvSpPr/>
          <p:nvPr/>
        </p:nvSpPr>
        <p:spPr>
          <a:xfrm>
            <a:off x="6507480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6507480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7" name="Shape 174"/>
          <p:cNvSpPr/>
          <p:nvPr/>
        </p:nvSpPr>
        <p:spPr>
          <a:xfrm>
            <a:off x="6998208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78" name="Text 175"/>
          <p:cNvSpPr/>
          <p:nvPr/>
        </p:nvSpPr>
        <p:spPr>
          <a:xfrm>
            <a:off x="6998208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9" name="Shape 176"/>
          <p:cNvSpPr/>
          <p:nvPr/>
        </p:nvSpPr>
        <p:spPr>
          <a:xfrm>
            <a:off x="7488936" y="3813048"/>
            <a:ext cx="490728" cy="475488"/>
          </a:xfrm>
          <a:prstGeom prst="rect">
            <a:avLst/>
          </a:prstGeom>
          <a:solidFill>
            <a:srgbClr val="EEF2F6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7979664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7979664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2" name="Shape 179"/>
          <p:cNvSpPr/>
          <p:nvPr/>
        </p:nvSpPr>
        <p:spPr>
          <a:xfrm>
            <a:off x="8470392" y="3813048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8470392" y="3813048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4" name="Shape 181"/>
          <p:cNvSpPr/>
          <p:nvPr/>
        </p:nvSpPr>
        <p:spPr>
          <a:xfrm>
            <a:off x="182880" y="4288536"/>
            <a:ext cx="1417320" cy="475488"/>
          </a:xfrm>
          <a:prstGeom prst="rect">
            <a:avLst/>
          </a:prstGeom>
          <a:solidFill>
            <a:srgbClr val="1A2B45">
              <a:alpha val="15000"/>
            </a:srgbClr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228600" y="428853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validadores.py</a:t>
            </a:r>
            <a:endParaRPr lang="en-US" sz="800" dirty="0"/>
          </a:p>
        </p:txBody>
      </p:sp>
      <p:sp>
        <p:nvSpPr>
          <p:cNvPr id="186" name="Shape 183"/>
          <p:cNvSpPr/>
          <p:nvPr/>
        </p:nvSpPr>
        <p:spPr>
          <a:xfrm>
            <a:off x="1600200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2090928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2581656" y="428853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2581656" y="428853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0" name="Shape 187"/>
          <p:cNvSpPr/>
          <p:nvPr/>
        </p:nvSpPr>
        <p:spPr>
          <a:xfrm>
            <a:off x="3072384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3563112" y="4288536"/>
            <a:ext cx="490728" cy="475488"/>
          </a:xfrm>
          <a:prstGeom prst="rect">
            <a:avLst/>
          </a:prstGeom>
          <a:solidFill>
            <a:srgbClr val="27AE60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3563112" y="4288536"/>
            <a:ext cx="49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3" name="Shape 190"/>
          <p:cNvSpPr/>
          <p:nvPr/>
        </p:nvSpPr>
        <p:spPr>
          <a:xfrm>
            <a:off x="4053840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4544568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035296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5526024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016752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6507480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6998208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488936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7979664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8470392" y="4288536"/>
            <a:ext cx="49072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182880" y="4663440"/>
            <a:ext cx="201168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4" name="Text 201"/>
          <p:cNvSpPr/>
          <p:nvPr/>
        </p:nvSpPr>
        <p:spPr>
          <a:xfrm>
            <a:off x="438912" y="4663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Módulo implementa la HU</a:t>
            </a:r>
            <a:endParaRPr lang="en-US" sz="900" dirty="0"/>
          </a:p>
        </p:txBody>
      </p:sp>
      <p:sp>
        <p:nvSpPr>
          <p:cNvPr id="205" name="Text 202"/>
          <p:cNvSpPr/>
          <p:nvPr/>
        </p:nvSpPr>
        <p:spPr>
          <a:xfrm>
            <a:off x="3657600" y="46634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 a HU-06: versión 1.0  ·  HU-07 a HU-15: versión 2.0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Historias de Usuario — C.R.S v2.0</dc:title>
  <dc:subject>PptxGenJS Presentation</dc:subject>
  <dc:creator>PptxGenJS</dc:creator>
  <cp:lastModifiedBy>PptxGenJS</cp:lastModifiedBy>
  <cp:revision>1</cp:revision>
  <dcterms:created xsi:type="dcterms:W3CDTF">2026-03-18T00:06:40Z</dcterms:created>
  <dcterms:modified xsi:type="dcterms:W3CDTF">2026-03-18T00:06:40Z</dcterms:modified>
</cp:coreProperties>
</file>