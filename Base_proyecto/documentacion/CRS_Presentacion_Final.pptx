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41" d="100"/>
          <a:sy n="141" d="100"/>
        </p:scale>
        <p:origin x="74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iliana Gonzalez" userId="d8cf2cf8046bb5ba" providerId="LiveId" clId="{0305A978-7101-49F6-B089-C2BFB106AD80}"/>
    <pc:docChg chg="modSld">
      <pc:chgData name="Liliana Gonzalez" userId="d8cf2cf8046bb5ba" providerId="LiveId" clId="{0305A978-7101-49F6-B089-C2BFB106AD80}" dt="2026-03-18T15:14:48.980" v="30" actId="20577"/>
      <pc:docMkLst>
        <pc:docMk/>
      </pc:docMkLst>
      <pc:sldChg chg="modSp mod">
        <pc:chgData name="Liliana Gonzalez" userId="d8cf2cf8046bb5ba" providerId="LiveId" clId="{0305A978-7101-49F6-B089-C2BFB106AD80}" dt="2026-03-18T02:57:43.968" v="28" actId="20577"/>
        <pc:sldMkLst>
          <pc:docMk/>
          <pc:sldMk cId="0" sldId="256"/>
        </pc:sldMkLst>
        <pc:spChg chg="mod">
          <ac:chgData name="Liliana Gonzalez" userId="d8cf2cf8046bb5ba" providerId="LiveId" clId="{0305A978-7101-49F6-B089-C2BFB106AD80}" dt="2026-03-18T02:50:04.175" v="3" actId="20577"/>
          <ac:spMkLst>
            <pc:docMk/>
            <pc:sldMk cId="0" sldId="256"/>
            <ac:spMk id="5" creationId="{00000000-0000-0000-0000-000000000000}"/>
          </ac:spMkLst>
        </pc:spChg>
        <pc:spChg chg="mod">
          <ac:chgData name="Liliana Gonzalez" userId="d8cf2cf8046bb5ba" providerId="LiveId" clId="{0305A978-7101-49F6-B089-C2BFB106AD80}" dt="2026-03-18T02:57:43.968" v="28" actId="20577"/>
          <ac:spMkLst>
            <pc:docMk/>
            <pc:sldMk cId="0" sldId="256"/>
            <ac:spMk id="12" creationId="{00000000-0000-0000-0000-000000000000}"/>
          </ac:spMkLst>
        </pc:spChg>
      </pc:sldChg>
      <pc:sldChg chg="modSp mod">
        <pc:chgData name="Liliana Gonzalez" userId="d8cf2cf8046bb5ba" providerId="LiveId" clId="{0305A978-7101-49F6-B089-C2BFB106AD80}" dt="2026-03-18T02:57:37.935" v="26" actId="20577"/>
        <pc:sldMkLst>
          <pc:docMk/>
          <pc:sldMk cId="0" sldId="258"/>
        </pc:sldMkLst>
        <pc:spChg chg="mod">
          <ac:chgData name="Liliana Gonzalez" userId="d8cf2cf8046bb5ba" providerId="LiveId" clId="{0305A978-7101-49F6-B089-C2BFB106AD80}" dt="2026-03-18T02:57:37.935" v="26" actId="20577"/>
          <ac:spMkLst>
            <pc:docMk/>
            <pc:sldMk cId="0" sldId="258"/>
            <ac:spMk id="11" creationId="{00000000-0000-0000-0000-000000000000}"/>
          </ac:spMkLst>
        </pc:spChg>
      </pc:sldChg>
      <pc:sldChg chg="modSp mod">
        <pc:chgData name="Liliana Gonzalez" userId="d8cf2cf8046bb5ba" providerId="LiveId" clId="{0305A978-7101-49F6-B089-C2BFB106AD80}" dt="2026-03-18T15:14:48.980" v="30" actId="20577"/>
        <pc:sldMkLst>
          <pc:docMk/>
          <pc:sldMk cId="0" sldId="262"/>
        </pc:sldMkLst>
        <pc:spChg chg="mod">
          <ac:chgData name="Liliana Gonzalez" userId="d8cf2cf8046bb5ba" providerId="LiveId" clId="{0305A978-7101-49F6-B089-C2BFB106AD80}" dt="2026-03-18T15:14:48.980" v="30" actId="20577"/>
          <ac:spMkLst>
            <pc:docMk/>
            <pc:sldMk cId="0" sldId="262"/>
            <ac:spMk id="36" creationId="{00000000-0000-0000-0000-000000000000}"/>
          </ac:spMkLst>
        </pc:spChg>
      </pc:sldChg>
      <pc:sldChg chg="modSp mod">
        <pc:chgData name="Liliana Gonzalez" userId="d8cf2cf8046bb5ba" providerId="LiveId" clId="{0305A978-7101-49F6-B089-C2BFB106AD80}" dt="2026-03-18T02:57:10.922" v="24" actId="20577"/>
        <pc:sldMkLst>
          <pc:docMk/>
          <pc:sldMk cId="0" sldId="263"/>
        </pc:sldMkLst>
        <pc:spChg chg="mod">
          <ac:chgData name="Liliana Gonzalez" userId="d8cf2cf8046bb5ba" providerId="LiveId" clId="{0305A978-7101-49F6-B089-C2BFB106AD80}" dt="2026-03-18T02:57:10.922" v="24" actId="20577"/>
          <ac:spMkLst>
            <pc:docMk/>
            <pc:sldMk cId="0" sldId="263"/>
            <ac:spMk id="4" creationId="{00000000-0000-0000-0000-000000000000}"/>
          </ac:spMkLst>
        </pc:spChg>
        <pc:spChg chg="mod">
          <ac:chgData name="Liliana Gonzalez" userId="d8cf2cf8046bb5ba" providerId="LiveId" clId="{0305A978-7101-49F6-B089-C2BFB106AD80}" dt="2026-03-18T02:56:46.751" v="13" actId="20577"/>
          <ac:spMkLst>
            <pc:docMk/>
            <pc:sldMk cId="0" sldId="263"/>
            <ac:spMk id="11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578429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840480" cy="51435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3291840" y="0"/>
            <a:ext cx="640080" cy="5143500"/>
          </a:xfrm>
          <a:prstGeom prst="rtTriangle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502920"/>
            <a:ext cx="1463040" cy="1426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28600" y="21945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 — CIDM</a:t>
            </a:r>
            <a:endParaRPr lang="en-US" sz="1100" dirty="0"/>
          </a:p>
        </p:txBody>
      </p:sp>
      <p:sp>
        <p:nvSpPr>
          <p:cNvPr id="6" name="Shape 3"/>
          <p:cNvSpPr/>
          <p:nvPr/>
        </p:nvSpPr>
        <p:spPr>
          <a:xfrm>
            <a:off x="457200" y="2880360"/>
            <a:ext cx="2834640" cy="45720"/>
          </a:xfrm>
          <a:prstGeom prst="rect">
            <a:avLst/>
          </a:prstGeom>
          <a:solidFill>
            <a:srgbClr val="1A2B45">
              <a:alpha val="70000"/>
            </a:srgbClr>
          </a:solidFill>
          <a:ln w="12700">
            <a:solidFill>
              <a:srgbClr val="1A2B45">
                <a:alpha val="70000"/>
              </a:srgbClr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7" name="Text 4"/>
          <p:cNvSpPr/>
          <p:nvPr/>
        </p:nvSpPr>
        <p:spPr>
          <a:xfrm>
            <a:off x="228600" y="301752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228600" y="33375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 2026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228600" y="3794760"/>
            <a:ext cx="32918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Ardila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Elver Cortez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114800" y="822960"/>
            <a:ext cx="4754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</a:t>
            </a:r>
            <a:endParaRPr lang="en-US" sz="5800" dirty="0"/>
          </a:p>
        </p:txBody>
      </p:sp>
      <p:sp>
        <p:nvSpPr>
          <p:cNvPr id="11" name="Text 8"/>
          <p:cNvSpPr/>
          <p:nvPr/>
        </p:nvSpPr>
        <p:spPr>
          <a:xfrm>
            <a:off x="4114800" y="1691640"/>
            <a:ext cx="4754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kern="0" spc="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REGISTRY SYSTEM</a:t>
            </a:r>
            <a:endParaRPr lang="en-US" sz="2600" dirty="0"/>
          </a:p>
        </p:txBody>
      </p:sp>
      <p:sp>
        <p:nvSpPr>
          <p:cNvPr id="12" name="Text 9"/>
          <p:cNvSpPr/>
          <p:nvPr/>
        </p:nvSpPr>
        <p:spPr>
          <a:xfrm>
            <a:off x="411480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</a:t>
            </a:r>
            <a:r>
              <a:rPr lang="en-US" sz="140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v2.1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4114800" y="2788920"/>
            <a:ext cx="4663440" cy="178308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E877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4" name="Text 11"/>
          <p:cNvSpPr/>
          <p:nvPr/>
        </p:nvSpPr>
        <p:spPr>
          <a:xfrm>
            <a:off x="4297680" y="2926080"/>
            <a:ext cx="429768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de registro de asistencia y gestión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faltas para aprendices del SENA,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diseñado para automatizar y centralizar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operación administrativa del centro.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que Resuelve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pasaba antes de C.R.S?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05840"/>
            <a:ext cx="416052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74320" y="1005840"/>
            <a:ext cx="64008" cy="1600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438912" y="11247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manual en papel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38912" y="1417320"/>
            <a:ext cx="3904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asistencias se anotaban a mano, generando errores, pérdidas de información y un proceso lento cada jornada.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709160" y="1005840"/>
            <a:ext cx="416052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2" name="Shape 9"/>
          <p:cNvSpPr/>
          <p:nvPr/>
        </p:nvSpPr>
        <p:spPr>
          <a:xfrm>
            <a:off x="4709160" y="1005840"/>
            <a:ext cx="64008" cy="1600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4873752" y="11247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trazabilidad de faltas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873752" y="1417320"/>
            <a:ext cx="3904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existía un sistema centralizado para registrar faltas por tipo (inasistencia, retardo, justificada), dificultando el seguimiento.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74320" y="2834640"/>
            <a:ext cx="416052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6" name="Shape 13"/>
          <p:cNvSpPr/>
          <p:nvPr/>
        </p:nvSpPr>
        <p:spPr>
          <a:xfrm>
            <a:off x="274320" y="2834640"/>
            <a:ext cx="64008" cy="1600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/>
          <p:nvPr/>
        </p:nvSpPr>
        <p:spPr>
          <a:xfrm>
            <a:off x="438912" y="29535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difíciles de generar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438912" y="3246120"/>
            <a:ext cx="3904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Consolidar datos de asistencia por ficha o aprendiz requería horas de trabajo manual en hojas de cálculo.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709160" y="2834640"/>
            <a:ext cx="4160520" cy="160020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0" name="Shape 17"/>
          <p:cNvSpPr/>
          <p:nvPr/>
        </p:nvSpPr>
        <p:spPr>
          <a:xfrm>
            <a:off x="4709160" y="2834640"/>
            <a:ext cx="64008" cy="16002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8"/>
          <p:cNvSpPr/>
          <p:nvPr/>
        </p:nvSpPr>
        <p:spPr>
          <a:xfrm>
            <a:off x="4873752" y="2953512"/>
            <a:ext cx="390448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auditoría de 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873752" y="3246120"/>
            <a:ext cx="39044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Era imposible saber quién modificó un registro, cuándo o por qué, dejando la gestión sin trazabilidad ni control.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0" y="4754880"/>
            <a:ext cx="9144000" cy="384048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1"/>
          <p:cNvSpPr/>
          <p:nvPr/>
        </p:nvSpPr>
        <p:spPr>
          <a:xfrm>
            <a:off x="274320" y="4773168"/>
            <a:ext cx="8595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automatiza y digitaliza todo este proceso, eliminando los problemas mencionados.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es Chronos Registry System?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de escritorio para gestión de asistencia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05840"/>
            <a:ext cx="4114800" cy="384048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74320" y="1005840"/>
            <a:ext cx="4114800" cy="64008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502920" y="123444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es una aplicación de escritorio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desarrollada para el SENA HSGS que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automatiza completamente el registro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asistencia de aprendices.</a:t>
            </a:r>
            <a:endParaRPr lang="en-US" sz="1450" dirty="0"/>
          </a:p>
        </p:txBody>
      </p:sp>
      <p:sp>
        <p:nvSpPr>
          <p:cNvPr id="10" name="Text 7"/>
          <p:cNvSpPr/>
          <p:nvPr/>
        </p:nvSpPr>
        <p:spPr>
          <a:xfrm>
            <a:off x="502920" y="2651760"/>
            <a:ext cx="3657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Reemplaza el registro en papel por un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digital con tres paneles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independientes: Aprendiz, Instructor</a:t>
            </a:r>
            <a:endParaRPr lang="en-US" sz="1450" dirty="0"/>
          </a:p>
          <a:p>
            <a:pPr marL="0" indent="0">
              <a:buNone/>
            </a:pPr>
            <a:r>
              <a:rPr lang="en-US" sz="145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Administrador.</a:t>
            </a:r>
            <a:endParaRPr lang="en-US" sz="1450" dirty="0"/>
          </a:p>
        </p:txBody>
      </p:sp>
      <p:sp>
        <p:nvSpPr>
          <p:cNvPr id="11" name="Text 8"/>
          <p:cNvSpPr/>
          <p:nvPr/>
        </p:nvSpPr>
        <p:spPr>
          <a:xfrm>
            <a:off x="502920" y="4297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SENA CIDM · Python Desktop · v2.1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4663440" y="100584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4754880" y="1078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🖥️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5166360" y="1097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4754880" y="1554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Escritorio Windows 10/11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6949440" y="100584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/>
          <p:nvPr/>
        </p:nvSpPr>
        <p:spPr>
          <a:xfrm>
            <a:off x="7040880" y="107899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🗄️</a:t>
            </a:r>
            <a:endParaRPr lang="en-US" sz="1800" dirty="0"/>
          </a:p>
        </p:txBody>
      </p:sp>
      <p:sp>
        <p:nvSpPr>
          <p:cNvPr id="18" name="Text 15"/>
          <p:cNvSpPr/>
          <p:nvPr/>
        </p:nvSpPr>
        <p:spPr>
          <a:xfrm>
            <a:off x="7452360" y="109728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7040880" y="155448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MySQL centralizada</a:t>
            </a:r>
            <a:endParaRPr lang="en-US" sz="1100" dirty="0"/>
          </a:p>
        </p:txBody>
      </p:sp>
      <p:sp>
        <p:nvSpPr>
          <p:cNvPr id="20" name="Shape 17"/>
          <p:cNvSpPr/>
          <p:nvPr/>
        </p:nvSpPr>
        <p:spPr>
          <a:xfrm>
            <a:off x="4663440" y="224028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Text 18"/>
          <p:cNvSpPr/>
          <p:nvPr/>
        </p:nvSpPr>
        <p:spPr>
          <a:xfrm>
            <a:off x="4754880" y="2313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👥</a:t>
            </a:r>
            <a:endParaRPr lang="en-US" sz="1800" dirty="0"/>
          </a:p>
        </p:txBody>
      </p:sp>
      <p:sp>
        <p:nvSpPr>
          <p:cNvPr id="22" name="Text 19"/>
          <p:cNvSpPr/>
          <p:nvPr/>
        </p:nvSpPr>
        <p:spPr>
          <a:xfrm>
            <a:off x="516636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</a:t>
            </a:r>
            <a:endParaRPr lang="en-US" sz="950" dirty="0"/>
          </a:p>
        </p:txBody>
      </p:sp>
      <p:sp>
        <p:nvSpPr>
          <p:cNvPr id="23" name="Text 20"/>
          <p:cNvSpPr/>
          <p:nvPr/>
        </p:nvSpPr>
        <p:spPr>
          <a:xfrm>
            <a:off x="4754880" y="2788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Aprendices, Instructores, Admin</a:t>
            </a:r>
            <a:endParaRPr lang="en-US" sz="1100" dirty="0"/>
          </a:p>
        </p:txBody>
      </p:sp>
      <p:sp>
        <p:nvSpPr>
          <p:cNvPr id="24" name="Shape 21"/>
          <p:cNvSpPr/>
          <p:nvPr/>
        </p:nvSpPr>
        <p:spPr>
          <a:xfrm>
            <a:off x="6949440" y="224028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Text 22"/>
          <p:cNvSpPr/>
          <p:nvPr/>
        </p:nvSpPr>
        <p:spPr>
          <a:xfrm>
            <a:off x="7040880" y="231343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📊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452360" y="233172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</a:t>
            </a:r>
            <a:endParaRPr lang="en-US" sz="950" dirty="0"/>
          </a:p>
        </p:txBody>
      </p:sp>
      <p:sp>
        <p:nvSpPr>
          <p:cNvPr id="27" name="Text 24"/>
          <p:cNvSpPr/>
          <p:nvPr/>
        </p:nvSpPr>
        <p:spPr>
          <a:xfrm>
            <a:off x="7040880" y="278892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y Excel exportables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4663440" y="347472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9" name="Text 26"/>
          <p:cNvSpPr/>
          <p:nvPr/>
        </p:nvSpPr>
        <p:spPr>
          <a:xfrm>
            <a:off x="4754880" y="3547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🔐</a:t>
            </a:r>
            <a:endParaRPr lang="en-US" sz="1800" dirty="0"/>
          </a:p>
        </p:txBody>
      </p:sp>
      <p:sp>
        <p:nvSpPr>
          <p:cNvPr id="30" name="Text 27"/>
          <p:cNvSpPr/>
          <p:nvPr/>
        </p:nvSpPr>
        <p:spPr>
          <a:xfrm>
            <a:off x="516636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4754880" y="4023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por roles + auditoría</a:t>
            </a:r>
            <a:endParaRPr lang="en-US" sz="1100" dirty="0"/>
          </a:p>
        </p:txBody>
      </p:sp>
      <p:sp>
        <p:nvSpPr>
          <p:cNvPr id="32" name="Shape 29"/>
          <p:cNvSpPr/>
          <p:nvPr/>
        </p:nvSpPr>
        <p:spPr>
          <a:xfrm>
            <a:off x="6949440" y="3474720"/>
            <a:ext cx="2057400" cy="10058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Text 30"/>
          <p:cNvSpPr/>
          <p:nvPr/>
        </p:nvSpPr>
        <p:spPr>
          <a:xfrm>
            <a:off x="7040880" y="3547872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</a:rPr>
              <a:t>📅</a:t>
            </a:r>
            <a:endParaRPr lang="en-US" sz="1800" dirty="0"/>
          </a:p>
        </p:txBody>
      </p:sp>
      <p:sp>
        <p:nvSpPr>
          <p:cNvPr id="34" name="Text 31"/>
          <p:cNvSpPr/>
          <p:nvPr/>
        </p:nvSpPr>
        <p:spPr>
          <a:xfrm>
            <a:off x="7452360" y="3566160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7040880" y="4023360"/>
            <a:ext cx="1874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Listo para producción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¿Quiénes usan C.R.S?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roles con paneles y permisos independientes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96012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74320" y="960120"/>
            <a:ext cx="2743200" cy="960120"/>
          </a:xfrm>
          <a:prstGeom prst="rect">
            <a:avLst/>
          </a:prstGeom>
          <a:solidFill>
            <a:srgbClr val="1A5F7A"/>
          </a:solidFill>
          <a:ln w="12700">
            <a:solidFill>
              <a:srgbClr val="1A5F7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41148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👨‍🎓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1051560" y="11430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274320" y="1920240"/>
            <a:ext cx="2743200" cy="45720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Shape 9"/>
          <p:cNvSpPr/>
          <p:nvPr/>
        </p:nvSpPr>
        <p:spPr>
          <a:xfrm>
            <a:off x="457200" y="2084832"/>
            <a:ext cx="164592" cy="16459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694944" y="201168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Marca entrada y salida con su documento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457200" y="2743200"/>
            <a:ext cx="164592" cy="16459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/>
          <p:nvPr/>
        </p:nvSpPr>
        <p:spPr>
          <a:xfrm>
            <a:off x="694944" y="2670048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su historial en calendario mensual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457200" y="3401568"/>
            <a:ext cx="164592" cy="16459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/>
          <p:nvPr/>
        </p:nvSpPr>
        <p:spPr>
          <a:xfrm>
            <a:off x="694944" y="3328416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 sus registros por día con hora exacta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457200" y="4059936"/>
            <a:ext cx="164592" cy="16459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6"/>
          <p:cNvSpPr/>
          <p:nvPr/>
        </p:nvSpPr>
        <p:spPr>
          <a:xfrm>
            <a:off x="694944" y="3986784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 su contraseña al primer acceso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3200400" y="96012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1" name="Shape 18"/>
          <p:cNvSpPr/>
          <p:nvPr/>
        </p:nvSpPr>
        <p:spPr>
          <a:xfrm>
            <a:off x="3200400" y="960120"/>
            <a:ext cx="2743200" cy="960120"/>
          </a:xfrm>
          <a:prstGeom prst="rect">
            <a:avLst/>
          </a:prstGeom>
          <a:solidFill>
            <a:srgbClr val="1A6B3A"/>
          </a:solidFill>
          <a:ln w="12700">
            <a:solidFill>
              <a:srgbClr val="1A6B3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2" name="Text 19"/>
          <p:cNvSpPr/>
          <p:nvPr/>
        </p:nvSpPr>
        <p:spPr>
          <a:xfrm>
            <a:off x="333756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👨‍🏫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3977640" y="11430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Instructor</a:t>
            </a:r>
            <a:endParaRPr lang="en-US" sz="2000" dirty="0"/>
          </a:p>
        </p:txBody>
      </p:sp>
      <p:sp>
        <p:nvSpPr>
          <p:cNvPr id="24" name="Shape 21"/>
          <p:cNvSpPr/>
          <p:nvPr/>
        </p:nvSpPr>
        <p:spPr>
          <a:xfrm>
            <a:off x="3200400" y="1920240"/>
            <a:ext cx="2743200" cy="45720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5" name="Shape 22"/>
          <p:cNvSpPr/>
          <p:nvPr/>
        </p:nvSpPr>
        <p:spPr>
          <a:xfrm>
            <a:off x="3383280" y="2084832"/>
            <a:ext cx="164592" cy="16459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3"/>
          <p:cNvSpPr/>
          <p:nvPr/>
        </p:nvSpPr>
        <p:spPr>
          <a:xfrm>
            <a:off x="3621024" y="201168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solo a sus fichas asignadas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383280" y="2743200"/>
            <a:ext cx="164592" cy="16459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8" name="Text 25"/>
          <p:cNvSpPr/>
          <p:nvPr/>
        </p:nvSpPr>
        <p:spPr>
          <a:xfrm>
            <a:off x="3621024" y="2670048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faltas: inasistencia, retardo, justificada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3383280" y="3401568"/>
            <a:ext cx="164592" cy="16459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0" name="Text 27"/>
          <p:cNvSpPr/>
          <p:nvPr/>
        </p:nvSpPr>
        <p:spPr>
          <a:xfrm>
            <a:off x="3621024" y="3328416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historial de asistencia de su ficha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3383280" y="4059936"/>
            <a:ext cx="164592" cy="16459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29"/>
          <p:cNvSpPr/>
          <p:nvPr/>
        </p:nvSpPr>
        <p:spPr>
          <a:xfrm>
            <a:off x="3621024" y="3986784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y exporta reportes de sus grupos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6126480" y="960120"/>
            <a:ext cx="27432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4" name="Shape 31"/>
          <p:cNvSpPr/>
          <p:nvPr/>
        </p:nvSpPr>
        <p:spPr>
          <a:xfrm>
            <a:off x="6126480" y="960120"/>
            <a:ext cx="2743200" cy="960120"/>
          </a:xfrm>
          <a:prstGeom prst="rect">
            <a:avLst/>
          </a:prstGeom>
          <a:solidFill>
            <a:srgbClr val="6B1A1A"/>
          </a:solidFill>
          <a:ln w="12700">
            <a:solidFill>
              <a:srgbClr val="6B1A1A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5" name="Text 32"/>
          <p:cNvSpPr/>
          <p:nvPr/>
        </p:nvSpPr>
        <p:spPr>
          <a:xfrm>
            <a:off x="6263640" y="10058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dirty="0">
                <a:solidFill>
                  <a:srgbClr val="000000"/>
                </a:solidFill>
              </a:rPr>
              <a:t>👨‍💼</a:t>
            </a:r>
            <a:endParaRPr lang="en-US" sz="2600" dirty="0"/>
          </a:p>
        </p:txBody>
      </p:sp>
      <p:sp>
        <p:nvSpPr>
          <p:cNvPr id="36" name="Text 33"/>
          <p:cNvSpPr/>
          <p:nvPr/>
        </p:nvSpPr>
        <p:spPr>
          <a:xfrm>
            <a:off x="6903720" y="114300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2000" dirty="0"/>
          </a:p>
        </p:txBody>
      </p:sp>
      <p:sp>
        <p:nvSpPr>
          <p:cNvPr id="37" name="Shape 34"/>
          <p:cNvSpPr/>
          <p:nvPr/>
        </p:nvSpPr>
        <p:spPr>
          <a:xfrm>
            <a:off x="6126480" y="1920240"/>
            <a:ext cx="2743200" cy="4572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8" name="Shape 35"/>
          <p:cNvSpPr/>
          <p:nvPr/>
        </p:nvSpPr>
        <p:spPr>
          <a:xfrm>
            <a:off x="6309360" y="2084832"/>
            <a:ext cx="164592" cy="164592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9" name="Text 36"/>
          <p:cNvSpPr/>
          <p:nvPr/>
        </p:nvSpPr>
        <p:spPr>
          <a:xfrm>
            <a:off x="6547104" y="2011680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completa de aprendices e instructores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6309360" y="2743200"/>
            <a:ext cx="164592" cy="164592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1" name="Text 38"/>
          <p:cNvSpPr/>
          <p:nvPr/>
        </p:nvSpPr>
        <p:spPr>
          <a:xfrm>
            <a:off x="6547104" y="2670048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KPIs: hoy / semana / mes</a:t>
            </a:r>
            <a:endParaRPr lang="en-US" sz="1050" dirty="0"/>
          </a:p>
        </p:txBody>
      </p:sp>
      <p:sp>
        <p:nvSpPr>
          <p:cNvPr id="42" name="Shape 39"/>
          <p:cNvSpPr/>
          <p:nvPr/>
        </p:nvSpPr>
        <p:spPr>
          <a:xfrm>
            <a:off x="6309360" y="3401568"/>
            <a:ext cx="164592" cy="164592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3" name="Text 40"/>
          <p:cNvSpPr/>
          <p:nvPr/>
        </p:nvSpPr>
        <p:spPr>
          <a:xfrm>
            <a:off x="6547104" y="3328416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exportables a PDF y Excel</a:t>
            </a:r>
            <a:endParaRPr lang="en-US" sz="1050" dirty="0"/>
          </a:p>
        </p:txBody>
      </p:sp>
      <p:sp>
        <p:nvSpPr>
          <p:cNvPr id="44" name="Shape 41"/>
          <p:cNvSpPr/>
          <p:nvPr/>
        </p:nvSpPr>
        <p:spPr>
          <a:xfrm>
            <a:off x="6309360" y="4059936"/>
            <a:ext cx="164592" cy="164592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5" name="Text 42"/>
          <p:cNvSpPr/>
          <p:nvPr/>
        </p:nvSpPr>
        <p:spPr>
          <a:xfrm>
            <a:off x="6547104" y="3986784"/>
            <a:ext cx="22311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de todas las acciones del sistema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del Sistema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lo que C.R.S hace por el SENA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Shape 5"/>
          <p:cNvSpPr/>
          <p:nvPr/>
        </p:nvSpPr>
        <p:spPr>
          <a:xfrm>
            <a:off x="274320" y="1005840"/>
            <a:ext cx="27432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411480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📲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896112" y="11430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Automático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411480" y="16002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Entrada y salida con solo ingresar el número de documento. Sin papeles, sin errores, al instante.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Shape 10"/>
          <p:cNvSpPr/>
          <p:nvPr/>
        </p:nvSpPr>
        <p:spPr>
          <a:xfrm>
            <a:off x="3246120" y="1005840"/>
            <a:ext cx="27432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4" name="Text 11"/>
          <p:cNvSpPr/>
          <p:nvPr/>
        </p:nvSpPr>
        <p:spPr>
          <a:xfrm>
            <a:off x="3383280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3867912" y="11430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Interactivo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383280" y="16002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Calendario mensual con registros por día. El aprendiz ve exactamente cuándo entró y salió.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5"/>
          <p:cNvSpPr/>
          <p:nvPr/>
        </p:nvSpPr>
        <p:spPr>
          <a:xfrm>
            <a:off x="6217920" y="1005840"/>
            <a:ext cx="27432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6"/>
          <p:cNvSpPr/>
          <p:nvPr/>
        </p:nvSpPr>
        <p:spPr>
          <a:xfrm>
            <a:off x="6355080" y="111556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❌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6839712" y="114300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Faltas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6355080" y="160020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instructor registra faltas por tipo: Inasistencia, Retardo o Justificada, con observaciones.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74320" y="292608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Shape 20"/>
          <p:cNvSpPr/>
          <p:nvPr/>
        </p:nvSpPr>
        <p:spPr>
          <a:xfrm>
            <a:off x="274320" y="2926080"/>
            <a:ext cx="2743200" cy="54864"/>
          </a:xfrm>
          <a:prstGeom prst="rect">
            <a:avLst/>
          </a:prstGeom>
          <a:solidFill>
            <a:srgbClr val="1A5F7A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Text 21"/>
          <p:cNvSpPr/>
          <p:nvPr/>
        </p:nvSpPr>
        <p:spPr>
          <a:xfrm>
            <a:off x="4114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896112" y="30632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Reportes en PDF/Excel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411480" y="35204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reportes por ficha o aprendiz, filtrado por día, semana o mes. Exportación con un clic.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246120" y="292608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Shape 25"/>
          <p:cNvSpPr/>
          <p:nvPr/>
        </p:nvSpPr>
        <p:spPr>
          <a:xfrm>
            <a:off x="3246120" y="2926080"/>
            <a:ext cx="2743200" cy="54864"/>
          </a:xfrm>
          <a:prstGeom prst="rect">
            <a:avLst/>
          </a:prstGeom>
          <a:solidFill>
            <a:srgbClr val="1A5F7A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9" name="Text 26"/>
          <p:cNvSpPr/>
          <p:nvPr/>
        </p:nvSpPr>
        <p:spPr>
          <a:xfrm>
            <a:off x="33832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📤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3867912" y="30632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Importación Masiva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3383280" y="35204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Carga cientos de aprendices desde un archivo Excel en segundos, con validación automática.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217920" y="292608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Shape 30"/>
          <p:cNvSpPr/>
          <p:nvPr/>
        </p:nvSpPr>
        <p:spPr>
          <a:xfrm>
            <a:off x="6217920" y="2926080"/>
            <a:ext cx="2743200" cy="54864"/>
          </a:xfrm>
          <a:prstGeom prst="rect">
            <a:avLst/>
          </a:prstGeom>
          <a:solidFill>
            <a:srgbClr val="1A5F7A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4" name="Text 31"/>
          <p:cNvSpPr/>
          <p:nvPr/>
        </p:nvSpPr>
        <p:spPr>
          <a:xfrm>
            <a:off x="6355080" y="303580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0000"/>
                </a:solidFill>
              </a:rPr>
              <a:t>🔍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6839712" y="3063240"/>
            <a:ext cx="2029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Auditoría Completa</a:t>
            </a:r>
            <a:endParaRPr lang="en-US" sz="1200" dirty="0"/>
          </a:p>
        </p:txBody>
      </p:sp>
      <p:sp>
        <p:nvSpPr>
          <p:cNvPr id="36" name="Text 33"/>
          <p:cNvSpPr/>
          <p:nvPr/>
        </p:nvSpPr>
        <p:spPr>
          <a:xfrm>
            <a:off x="6355080" y="3520440"/>
            <a:ext cx="2514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en el sistema queda registrada: quién hizo qué, cuándo y a quién.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¿Cómo Funciona en la Práctica?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Flujo de uso diario del sistema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822960" y="914400"/>
            <a:ext cx="822960" cy="822960"/>
          </a:xfrm>
          <a:prstGeom prst="ellipse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Text 5"/>
          <p:cNvSpPr/>
          <p:nvPr/>
        </p:nvSpPr>
        <p:spPr>
          <a:xfrm>
            <a:off x="82296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800" dirty="0"/>
          </a:p>
        </p:txBody>
      </p:sp>
      <p:sp>
        <p:nvSpPr>
          <p:cNvPr id="9" name="Shape 6"/>
          <p:cNvSpPr/>
          <p:nvPr/>
        </p:nvSpPr>
        <p:spPr>
          <a:xfrm>
            <a:off x="1755648" y="1261872"/>
            <a:ext cx="658368" cy="73152"/>
          </a:xfrm>
          <a:prstGeom prst="rect">
            <a:avLst/>
          </a:prstGeom>
          <a:solidFill>
            <a:srgbClr val="8A95A3"/>
          </a:solidFill>
          <a:ln w="12700">
            <a:solidFill>
              <a:srgbClr val="8A95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0" name="Shape 7"/>
          <p:cNvSpPr/>
          <p:nvPr/>
        </p:nvSpPr>
        <p:spPr>
          <a:xfrm>
            <a:off x="27432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1" name="Shape 8"/>
          <p:cNvSpPr/>
          <p:nvPr/>
        </p:nvSpPr>
        <p:spPr>
          <a:xfrm>
            <a:off x="274320" y="1920240"/>
            <a:ext cx="1920240" cy="7315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2" name="Text 9"/>
          <p:cNvSpPr/>
          <p:nvPr/>
        </p:nvSpPr>
        <p:spPr>
          <a:xfrm>
            <a:off x="36576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aprendiz llega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365760" y="26060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Ingresa su documento en la terminal y presiona MARCAR ENTRADA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2971800" y="914400"/>
            <a:ext cx="822960" cy="822960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/>
          <p:nvPr/>
        </p:nvSpPr>
        <p:spPr>
          <a:xfrm>
            <a:off x="297180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800" dirty="0"/>
          </a:p>
        </p:txBody>
      </p:sp>
      <p:sp>
        <p:nvSpPr>
          <p:cNvPr id="16" name="Shape 13"/>
          <p:cNvSpPr/>
          <p:nvPr/>
        </p:nvSpPr>
        <p:spPr>
          <a:xfrm>
            <a:off x="3904488" y="1261872"/>
            <a:ext cx="658368" cy="73152"/>
          </a:xfrm>
          <a:prstGeom prst="rect">
            <a:avLst/>
          </a:prstGeom>
          <a:solidFill>
            <a:srgbClr val="8A95A3"/>
          </a:solidFill>
          <a:ln w="12700">
            <a:solidFill>
              <a:srgbClr val="8A95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Shape 14"/>
          <p:cNvSpPr/>
          <p:nvPr/>
        </p:nvSpPr>
        <p:spPr>
          <a:xfrm>
            <a:off x="242316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Shape 15"/>
          <p:cNvSpPr/>
          <p:nvPr/>
        </p:nvSpPr>
        <p:spPr>
          <a:xfrm>
            <a:off x="2423160" y="1920240"/>
            <a:ext cx="1920240" cy="73152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9" name="Text 16"/>
          <p:cNvSpPr/>
          <p:nvPr/>
        </p:nvSpPr>
        <p:spPr>
          <a:xfrm>
            <a:off x="251460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registra</a:t>
            </a:r>
            <a:endParaRPr lang="en-US" sz="1250" dirty="0"/>
          </a:p>
        </p:txBody>
      </p:sp>
      <p:sp>
        <p:nvSpPr>
          <p:cNvPr id="20" name="Text 17"/>
          <p:cNvSpPr/>
          <p:nvPr/>
        </p:nvSpPr>
        <p:spPr>
          <a:xfrm>
            <a:off x="2514600" y="26060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guarda la hora exacta en la base de datos de forma automática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120640" y="914400"/>
            <a:ext cx="822960" cy="822960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2" name="Text 19"/>
          <p:cNvSpPr/>
          <p:nvPr/>
        </p:nvSpPr>
        <p:spPr>
          <a:xfrm>
            <a:off x="512064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800" dirty="0"/>
          </a:p>
        </p:txBody>
      </p:sp>
      <p:sp>
        <p:nvSpPr>
          <p:cNvPr id="23" name="Shape 20"/>
          <p:cNvSpPr/>
          <p:nvPr/>
        </p:nvSpPr>
        <p:spPr>
          <a:xfrm>
            <a:off x="6053328" y="1261872"/>
            <a:ext cx="658368" cy="73152"/>
          </a:xfrm>
          <a:prstGeom prst="rect">
            <a:avLst/>
          </a:prstGeom>
          <a:solidFill>
            <a:srgbClr val="8A95A3"/>
          </a:solidFill>
          <a:ln w="12700">
            <a:solidFill>
              <a:srgbClr val="8A95A3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4" name="Shape 21"/>
          <p:cNvSpPr/>
          <p:nvPr/>
        </p:nvSpPr>
        <p:spPr>
          <a:xfrm>
            <a:off x="457200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5" name="Shape 22"/>
          <p:cNvSpPr/>
          <p:nvPr/>
        </p:nvSpPr>
        <p:spPr>
          <a:xfrm>
            <a:off x="4572000" y="1920240"/>
            <a:ext cx="1920240" cy="73152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3"/>
          <p:cNvSpPr/>
          <p:nvPr/>
        </p:nvSpPr>
        <p:spPr>
          <a:xfrm>
            <a:off x="466344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instructor revisa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4663440" y="26060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Accede a su panel y puede ver la asistencia de su ficha en tiempo real</a:t>
            </a:r>
            <a:endParaRPr lang="en-US" sz="1100" dirty="0"/>
          </a:p>
        </p:txBody>
      </p:sp>
      <p:sp>
        <p:nvSpPr>
          <p:cNvPr id="28" name="Shape 25"/>
          <p:cNvSpPr/>
          <p:nvPr/>
        </p:nvSpPr>
        <p:spPr>
          <a:xfrm>
            <a:off x="7269480" y="914400"/>
            <a:ext cx="822960" cy="822960"/>
          </a:xfrm>
          <a:prstGeom prst="ellipse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9" name="Text 26"/>
          <p:cNvSpPr/>
          <p:nvPr/>
        </p:nvSpPr>
        <p:spPr>
          <a:xfrm>
            <a:off x="7269480" y="9144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800" dirty="0"/>
          </a:p>
        </p:txBody>
      </p:sp>
      <p:sp>
        <p:nvSpPr>
          <p:cNvPr id="30" name="Shape 27"/>
          <p:cNvSpPr/>
          <p:nvPr/>
        </p:nvSpPr>
        <p:spPr>
          <a:xfrm>
            <a:off x="6720840" y="1920240"/>
            <a:ext cx="1920240" cy="256032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1" name="Shape 28"/>
          <p:cNvSpPr/>
          <p:nvPr/>
        </p:nvSpPr>
        <p:spPr>
          <a:xfrm>
            <a:off x="6720840" y="1920240"/>
            <a:ext cx="1920240" cy="73152"/>
          </a:xfrm>
          <a:prstGeom prst="rect">
            <a:avLst/>
          </a:prstGeom>
          <a:solidFill>
            <a:srgbClr val="8E44AD"/>
          </a:solidFill>
          <a:ln w="12700">
            <a:solidFill>
              <a:srgbClr val="8E44AD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2" name="Text 29"/>
          <p:cNvSpPr/>
          <p:nvPr/>
        </p:nvSpPr>
        <p:spPr>
          <a:xfrm>
            <a:off x="6812280" y="2057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E2D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reporta</a:t>
            </a:r>
            <a:endParaRPr lang="en-US" sz="1250" dirty="0"/>
          </a:p>
        </p:txBody>
      </p:sp>
      <p:sp>
        <p:nvSpPr>
          <p:cNvPr id="33" name="Text 30"/>
          <p:cNvSpPr/>
          <p:nvPr/>
        </p:nvSpPr>
        <p:spPr>
          <a:xfrm>
            <a:off x="6812280" y="2606040"/>
            <a:ext cx="1737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reportes por período y los exporta en PDF o Excel para directivos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274320" y="4663440"/>
            <a:ext cx="8595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i="1" dirty="0">
                <a:solidFill>
                  <a:srgbClr val="8A95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aprendiz también puede ver su historial personal desde su panel con contraseña segura.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B45"/>
          </a:solidFill>
          <a:ln w="12700">
            <a:solidFill>
              <a:srgbClr val="1A2B45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" name="Shape 1"/>
          <p:cNvSpPr/>
          <p:nvPr/>
        </p:nvSpPr>
        <p:spPr>
          <a:xfrm>
            <a:off x="0" y="777240"/>
            <a:ext cx="914400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4" name="Text 2"/>
          <p:cNvSpPr/>
          <p:nvPr/>
        </p:nvSpPr>
        <p:spPr>
          <a:xfrm>
            <a:off x="411480" y="91440"/>
            <a:ext cx="7772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Beneficios para el SENA HSGS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411480" y="566928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Impacto real en la operación del centro</a:t>
            </a:r>
            <a:endParaRPr lang="en-US" sz="1000" dirty="0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720"/>
            <a:ext cx="685800" cy="667512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2743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8" name="Text 5"/>
          <p:cNvSpPr/>
          <p:nvPr/>
        </p:nvSpPr>
        <p:spPr>
          <a:xfrm>
            <a:off x="38404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⏱️</a:t>
            </a:r>
            <a:endParaRPr lang="en-US" sz="2400" dirty="0"/>
          </a:p>
        </p:txBody>
      </p:sp>
      <p:sp>
        <p:nvSpPr>
          <p:cNvPr id="9" name="Text 6"/>
          <p:cNvSpPr/>
          <p:nvPr/>
        </p:nvSpPr>
        <p:spPr>
          <a:xfrm>
            <a:off x="914400" y="1207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Ahorro de tiempo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411480" y="169164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411480" y="181051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registro tarda segundos por aprendiz. Horas de trabajo manual eliminadas cada semana.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246120" y="1005840"/>
            <a:ext cx="2743200" cy="1691640"/>
          </a:xfrm>
          <a:prstGeom prst="rect">
            <a:avLst/>
          </a:prstGeom>
          <a:solidFill>
            <a:srgbClr val="F4F6F9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335584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🎯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3886200" y="1207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Cero errores humanos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383280" y="169164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6" name="Text 13"/>
          <p:cNvSpPr/>
          <p:nvPr/>
        </p:nvSpPr>
        <p:spPr>
          <a:xfrm>
            <a:off x="3383280" y="181051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sistema valida cada registro automáticamente, evitando duplicados o entradas incorrectas.</a:t>
            </a:r>
            <a:endParaRPr lang="en-US" sz="1000" dirty="0"/>
          </a:p>
        </p:txBody>
      </p:sp>
      <p:sp>
        <p:nvSpPr>
          <p:cNvPr id="17" name="Shape 14"/>
          <p:cNvSpPr/>
          <p:nvPr/>
        </p:nvSpPr>
        <p:spPr>
          <a:xfrm>
            <a:off x="6217920" y="100584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18" name="Text 15"/>
          <p:cNvSpPr/>
          <p:nvPr/>
        </p:nvSpPr>
        <p:spPr>
          <a:xfrm>
            <a:off x="6327648" y="117043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📈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6858000" y="120700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para decisiones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6355080" y="169164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1" name="Text 18"/>
          <p:cNvSpPr/>
          <p:nvPr/>
        </p:nvSpPr>
        <p:spPr>
          <a:xfrm>
            <a:off x="6355080" y="181051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 y directivos cuentan con métricas reales para tomar decisiones basadas en datos.</a:t>
            </a:r>
            <a:endParaRPr lang="en-US" sz="1000" dirty="0"/>
          </a:p>
        </p:txBody>
      </p:sp>
      <p:sp>
        <p:nvSpPr>
          <p:cNvPr id="22" name="Shape 19"/>
          <p:cNvSpPr/>
          <p:nvPr/>
        </p:nvSpPr>
        <p:spPr>
          <a:xfrm>
            <a:off x="274320" y="2926080"/>
            <a:ext cx="2743200" cy="1691640"/>
          </a:xfrm>
          <a:prstGeom prst="rect">
            <a:avLst/>
          </a:prstGeom>
          <a:solidFill>
            <a:srgbClr val="F4F6F9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3" name="Text 20"/>
          <p:cNvSpPr/>
          <p:nvPr/>
        </p:nvSpPr>
        <p:spPr>
          <a:xfrm>
            <a:off x="384048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🔒</a:t>
            </a:r>
            <a:endParaRPr lang="en-US" sz="2400" dirty="0"/>
          </a:p>
        </p:txBody>
      </p:sp>
      <p:sp>
        <p:nvSpPr>
          <p:cNvPr id="24" name="Text 21"/>
          <p:cNvSpPr/>
          <p:nvPr/>
        </p:nvSpPr>
        <p:spPr>
          <a:xfrm>
            <a:off x="91440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total</a:t>
            </a:r>
            <a:endParaRPr lang="en-US" sz="1200" dirty="0"/>
          </a:p>
        </p:txBody>
      </p:sp>
      <p:sp>
        <p:nvSpPr>
          <p:cNvPr id="25" name="Shape 22"/>
          <p:cNvSpPr/>
          <p:nvPr/>
        </p:nvSpPr>
        <p:spPr>
          <a:xfrm>
            <a:off x="411480" y="361188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26" name="Text 23"/>
          <p:cNvSpPr/>
          <p:nvPr/>
        </p:nvSpPr>
        <p:spPr>
          <a:xfrm>
            <a:off x="411480" y="37307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acción queda auditada. Cambio obligatorio de contraseña. Acceso diferenciado por rol.</a:t>
            </a:r>
            <a:endParaRPr lang="en-US" sz="1000" dirty="0"/>
          </a:p>
        </p:txBody>
      </p:sp>
      <p:sp>
        <p:nvSpPr>
          <p:cNvPr id="27" name="Shape 24"/>
          <p:cNvSpPr/>
          <p:nvPr/>
        </p:nvSpPr>
        <p:spPr>
          <a:xfrm>
            <a:off x="3246120" y="2926080"/>
            <a:ext cx="2743200" cy="1691640"/>
          </a:xfrm>
          <a:prstGeom prst="rect">
            <a:avLst/>
          </a:prstGeom>
          <a:solidFill>
            <a:srgbClr val="FFFFFF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28" name="Text 25"/>
          <p:cNvSpPr/>
          <p:nvPr/>
        </p:nvSpPr>
        <p:spPr>
          <a:xfrm>
            <a:off x="3355848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♻️</a:t>
            </a:r>
            <a:endParaRPr lang="en-US" sz="2400" dirty="0"/>
          </a:p>
        </p:txBody>
      </p:sp>
      <p:sp>
        <p:nvSpPr>
          <p:cNvPr id="29" name="Text 26"/>
          <p:cNvSpPr/>
          <p:nvPr/>
        </p:nvSpPr>
        <p:spPr>
          <a:xfrm>
            <a:off x="388620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Papelera inteligente</a:t>
            </a:r>
            <a:endParaRPr lang="en-US" sz="1200" dirty="0"/>
          </a:p>
        </p:txBody>
      </p:sp>
      <p:sp>
        <p:nvSpPr>
          <p:cNvPr id="30" name="Shape 27"/>
          <p:cNvSpPr/>
          <p:nvPr/>
        </p:nvSpPr>
        <p:spPr>
          <a:xfrm>
            <a:off x="3383280" y="361188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1" name="Text 28"/>
          <p:cNvSpPr/>
          <p:nvPr/>
        </p:nvSpPr>
        <p:spPr>
          <a:xfrm>
            <a:off x="3383280" y="37307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aprendices no se eliminan directamente. Se pueden restaurar si fue un error, conservando el historial.</a:t>
            </a:r>
            <a:endParaRPr lang="en-US" sz="1000" dirty="0"/>
          </a:p>
        </p:txBody>
      </p:sp>
      <p:sp>
        <p:nvSpPr>
          <p:cNvPr id="32" name="Shape 29"/>
          <p:cNvSpPr/>
          <p:nvPr/>
        </p:nvSpPr>
        <p:spPr>
          <a:xfrm>
            <a:off x="6217920" y="2926080"/>
            <a:ext cx="2743200" cy="1691640"/>
          </a:xfrm>
          <a:prstGeom prst="rect">
            <a:avLst/>
          </a:prstGeom>
          <a:solidFill>
            <a:srgbClr val="F4F6F9"/>
          </a:solidFill>
          <a:ln w="6350">
            <a:solidFill>
              <a:srgbClr val="E8EC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CO"/>
          </a:p>
        </p:txBody>
      </p:sp>
      <p:sp>
        <p:nvSpPr>
          <p:cNvPr id="33" name="Text 30"/>
          <p:cNvSpPr/>
          <p:nvPr/>
        </p:nvSpPr>
        <p:spPr>
          <a:xfrm>
            <a:off x="6327648" y="309067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0000"/>
                </a:solidFill>
              </a:rPr>
              <a:t>🚀</a:t>
            </a:r>
            <a:endParaRPr lang="en-US" sz="2400" dirty="0"/>
          </a:p>
        </p:txBody>
      </p:sp>
      <p:sp>
        <p:nvSpPr>
          <p:cNvPr id="34" name="Text 31"/>
          <p:cNvSpPr/>
          <p:nvPr/>
        </p:nvSpPr>
        <p:spPr>
          <a:xfrm>
            <a:off x="6858000" y="31272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Listo para usar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6355080" y="3611880"/>
            <a:ext cx="2468880" cy="36576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36" name="Text 33"/>
          <p:cNvSpPr/>
          <p:nvPr/>
        </p:nvSpPr>
        <p:spPr>
          <a:xfrm>
            <a:off x="6355080" y="3730752"/>
            <a:ext cx="2468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</a:t>
            </a:r>
            <a:r>
              <a:rPr lang="en-US" sz="100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 v2.1 </a:t>
            </a:r>
            <a:r>
              <a:rPr lang="en-US" sz="10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en estado de producción, con instalador y documentación completa.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B4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474720" cy="5143500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731520"/>
            <a:ext cx="1463040" cy="1426464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1440" y="24231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CRS -HSGS- SENA CIDM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91440" y="28346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 de Gestión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Administrativa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91440" y="365760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Omar Ardila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A2B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Elver Cortez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3840480" y="548640"/>
            <a:ext cx="5029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¡Gracias!</a:t>
            </a:r>
            <a:endParaRPr lang="en-US" sz="6000" dirty="0"/>
          </a:p>
        </p:txBody>
      </p:sp>
      <p:sp>
        <p:nvSpPr>
          <p:cNvPr id="8" name="Shape 5"/>
          <p:cNvSpPr/>
          <p:nvPr/>
        </p:nvSpPr>
        <p:spPr>
          <a:xfrm>
            <a:off x="3840480" y="1554480"/>
            <a:ext cx="4754880" cy="54864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9" name="Text 6"/>
          <p:cNvSpPr/>
          <p:nvPr/>
        </p:nvSpPr>
        <p:spPr>
          <a:xfrm>
            <a:off x="3840480" y="1783080"/>
            <a:ext cx="5029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Chronos Registry System v2.0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resuelve el desafío de gestión de asistencia</a:t>
            </a: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SENA de forma digital, segura y eficiente.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3840480" y="3383280"/>
            <a:ext cx="54864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1" name="Text 8"/>
          <p:cNvSpPr/>
          <p:nvPr/>
        </p:nvSpPr>
        <p:spPr>
          <a:xfrm>
            <a:off x="4023360" y="3364992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C.R.S v2.1 — Estado: Listo para producción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840480" y="3785616"/>
            <a:ext cx="54864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3" name="Text 10"/>
          <p:cNvSpPr/>
          <p:nvPr/>
        </p:nvSpPr>
        <p:spPr>
          <a:xfrm>
            <a:off x="4023360" y="3767328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Windows Desktop · Python 3.10+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3840480" y="4187952"/>
            <a:ext cx="54864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5" name="Text 12"/>
          <p:cNvSpPr/>
          <p:nvPr/>
        </p:nvSpPr>
        <p:spPr>
          <a:xfrm>
            <a:off x="4023360" y="4169664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datos: MySQL 8.0+</a:t>
            </a:r>
            <a:endParaRPr lang="en-US" sz="1150" dirty="0"/>
          </a:p>
        </p:txBody>
      </p:sp>
      <p:sp>
        <p:nvSpPr>
          <p:cNvPr id="16" name="Shape 13"/>
          <p:cNvSpPr/>
          <p:nvPr/>
        </p:nvSpPr>
        <p:spPr>
          <a:xfrm>
            <a:off x="3840480" y="4590288"/>
            <a:ext cx="54864" cy="256032"/>
          </a:xfrm>
          <a:prstGeom prst="rect">
            <a:avLst/>
          </a:prstGeom>
          <a:solidFill>
            <a:srgbClr val="E87722"/>
          </a:solidFill>
          <a:ln w="12700">
            <a:solidFill>
              <a:srgbClr val="E87722"/>
            </a:solidFill>
            <a:prstDash val="solid"/>
          </a:ln>
        </p:spPr>
        <p:txBody>
          <a:bodyPr/>
          <a:lstStyle/>
          <a:p>
            <a:endParaRPr lang="es-CO"/>
          </a:p>
        </p:txBody>
      </p:sp>
      <p:sp>
        <p:nvSpPr>
          <p:cNvPr id="17" name="Text 14"/>
          <p:cNvSpPr/>
          <p:nvPr/>
        </p:nvSpPr>
        <p:spPr>
          <a:xfrm>
            <a:off x="4023360" y="457200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Documentación completa disponible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116</TotalTime>
  <Words>822</Words>
  <Application>Microsoft Office PowerPoint</Application>
  <PresentationFormat>Presentación en pantalla (16:9)</PresentationFormat>
  <Paragraphs>148</Paragraphs>
  <Slides>8</Slides>
  <Notes>8</Notes>
  <HiddenSlides>0</HiddenSlides>
  <MMClips>0</MMClips>
  <ScaleCrop>false</ScaleCrop>
  <HeadingPairs>
    <vt:vector size="6" baseType="variant">
      <vt:variant>
        <vt:lpstr>Fuentes usadas</vt:lpstr>
      </vt:variant>
      <vt:variant>
        <vt:i4>2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Chronos Registry System — Presentación</dc:title>
  <dc:subject>PptxGenJS Presentation</dc:subject>
  <dc:creator>PptxGenJS</dc:creator>
  <cp:lastModifiedBy>Liliana Gonzalez</cp:lastModifiedBy>
  <cp:revision>2</cp:revision>
  <dcterms:created xsi:type="dcterms:W3CDTF">2026-03-17T23:23:49Z</dcterms:created>
  <dcterms:modified xsi:type="dcterms:W3CDTF">2026-03-18T15:14:51Z</dcterms:modified>
</cp:coreProperties>
</file>